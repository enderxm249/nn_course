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entury Gothic Paneuropean Bold" charset="1" panose="020B0702020202020204"/>
      <p:regular r:id="rId19"/>
    </p:embeddedFont>
    <p:embeddedFont>
      <p:font typeface="Century Gothic Paneuropean" charset="1" panose="020B0502020202020204"/>
      <p:regular r:id="rId20"/>
    </p:embeddedFont>
    <p:embeddedFont>
      <p:font typeface="Open Sans" charset="1" panose="020B0606030504020204"/>
      <p:regular r:id="rId21"/>
    </p:embeddedFont>
    <p:embeddedFont>
      <p:font typeface="Canva Sans Bold" charset="1" panose="020B0803030501040103"/>
      <p:regular r:id="rId22"/>
    </p:embeddedFont>
    <p:embeddedFont>
      <p:font typeface="Canva Sans" charset="1" panose="020B0503030501040103"/>
      <p:regular r:id="rId23"/>
    </p:embeddedFont>
    <p:embeddedFont>
      <p:font typeface="Arimo" charset="1" panose="020B060402020202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 Id="rId5" Target="../media/image7.jpeg" Type="http://schemas.openxmlformats.org/officeDocument/2006/relationships/image"/><Relationship Id="rId6" Target="../media/VAGiisIopjU.mp4" Type="http://schemas.openxmlformats.org/officeDocument/2006/relationships/video"/><Relationship Id="rId7" Target="../media/VAGiisIopjU.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jpeg" Type="http://schemas.openxmlformats.org/officeDocument/2006/relationships/image"/><Relationship Id="rId8" Target="../media/VAGiiiM7PkM.mp4" Type="http://schemas.openxmlformats.org/officeDocument/2006/relationships/video"/><Relationship Id="rId9" Target="../media/VAGiiiM7PkM.mp4" Type="http://schemas.microsoft.com/office/2007/relationships/media"/></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jpeg" Type="http://schemas.openxmlformats.org/officeDocument/2006/relationships/image"/><Relationship Id="rId5" Target="../media/VAGii61Jk7o.mp4" Type="http://schemas.openxmlformats.org/officeDocument/2006/relationships/video"/><Relationship Id="rId6" Target="../media/VAGii61Jk7o.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 Id="rId6"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https://youtube.com/playlist?list=PLkDaE6sCZn6Gl29AoE31iwdVwSG-KnDzF&amp;si=_w1J-7-VuhAKrCpM"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36466" y="2866098"/>
            <a:ext cx="13018493" cy="4003857"/>
          </a:xfrm>
          <a:prstGeom prst="rect">
            <a:avLst/>
          </a:prstGeom>
        </p:spPr>
        <p:txBody>
          <a:bodyPr anchor="t" rtlCol="false" tIns="0" lIns="0" bIns="0" rIns="0">
            <a:spAutoFit/>
          </a:bodyPr>
          <a:lstStyle/>
          <a:p>
            <a:pPr algn="ctr">
              <a:lnSpc>
                <a:spcPts val="16089"/>
              </a:lnSpc>
            </a:pPr>
            <a:r>
              <a:rPr lang="en-US" sz="11492" b="true">
                <a:solidFill>
                  <a:srgbClr val="000000"/>
                </a:solidFill>
                <a:latin typeface="Century Gothic Paneuropean Bold"/>
                <a:ea typeface="Century Gothic Paneuropean Bold"/>
                <a:cs typeface="Century Gothic Paneuropean Bold"/>
                <a:sym typeface="Century Gothic Paneuropean Bold"/>
              </a:rPr>
              <a:t>Convolution Neural Network</a:t>
            </a: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569057" y="1194757"/>
            <a:ext cx="8537178" cy="1392115"/>
          </a:xfrm>
          <a:prstGeom prst="rect">
            <a:avLst/>
          </a:prstGeom>
        </p:spPr>
        <p:txBody>
          <a:bodyPr anchor="t" rtlCol="false" tIns="0" lIns="0" bIns="0" rIns="0">
            <a:spAutoFit/>
          </a:bodyPr>
          <a:lstStyle/>
          <a:p>
            <a:pPr algn="l">
              <a:lnSpc>
                <a:spcPts val="11469"/>
              </a:lnSpc>
            </a:pPr>
            <a:r>
              <a:rPr lang="en-US" sz="8192" b="true">
                <a:solidFill>
                  <a:srgbClr val="000000"/>
                </a:solidFill>
                <a:latin typeface="Century Gothic Paneuropean Bold"/>
                <a:ea typeface="Century Gothic Paneuropean Bold"/>
                <a:cs typeface="Century Gothic Paneuropean Bold"/>
                <a:sym typeface="Century Gothic Paneuropean Bold"/>
              </a:rPr>
              <a:t>INTRODUCTION</a:t>
            </a:r>
          </a:p>
        </p:txBody>
      </p:sp>
      <p:sp>
        <p:nvSpPr>
          <p:cNvPr name="TextBox 9" id="9"/>
          <p:cNvSpPr txBox="true"/>
          <p:nvPr/>
        </p:nvSpPr>
        <p:spPr>
          <a:xfrm rot="0">
            <a:off x="1569057" y="3167315"/>
            <a:ext cx="11211541" cy="3803262"/>
          </a:xfrm>
          <a:prstGeom prst="rect">
            <a:avLst/>
          </a:prstGeom>
        </p:spPr>
        <p:txBody>
          <a:bodyPr anchor="t" rtlCol="false" tIns="0" lIns="0" bIns="0" rIns="0">
            <a:spAutoFit/>
          </a:bodyPr>
          <a:lstStyle/>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A Convolutional Neural Network (CNN) is a type of Deep Learning Neural architecture commonly used in Computer Vision. Computer vision is a field of Artificial Intelligence that enables a computer to understand and interpret the image or visual data.</a:t>
            </a:r>
          </a:p>
        </p:txBody>
      </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transition spd="fast">
    <p:cover dir="d"/>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8655657" y="3085173"/>
            <a:ext cx="9144000" cy="4892040"/>
          </a:xfrm>
          <a:custGeom>
            <a:avLst/>
            <a:gdLst/>
            <a:ahLst/>
            <a:cxnLst/>
            <a:rect r="r" b="b" t="t" l="l"/>
            <a:pathLst>
              <a:path h="4892040" w="9144000">
                <a:moveTo>
                  <a:pt x="0" y="0"/>
                </a:moveTo>
                <a:lnTo>
                  <a:pt x="9144000" y="0"/>
                </a:lnTo>
                <a:lnTo>
                  <a:pt x="9144000" y="4892040"/>
                </a:lnTo>
                <a:lnTo>
                  <a:pt x="0" y="4892040"/>
                </a:lnTo>
                <a:lnTo>
                  <a:pt x="0" y="0"/>
                </a:lnTo>
                <a:close/>
              </a:path>
            </a:pathLst>
          </a:custGeom>
          <a:blipFill>
            <a:blip r:embed="rId4"/>
            <a:stretch>
              <a:fillRect l="0" t="0" r="0" b="0"/>
            </a:stretch>
          </a:blipFill>
        </p:spPr>
      </p:sp>
      <p:sp>
        <p:nvSpPr>
          <p:cNvPr name="TextBox 13" id="13"/>
          <p:cNvSpPr txBox="true"/>
          <p:nvPr/>
        </p:nvSpPr>
        <p:spPr>
          <a:xfrm rot="0">
            <a:off x="1569057" y="1194757"/>
            <a:ext cx="15149885" cy="2839915"/>
          </a:xfrm>
          <a:prstGeom prst="rect">
            <a:avLst/>
          </a:prstGeom>
        </p:spPr>
        <p:txBody>
          <a:bodyPr anchor="t" rtlCol="false" tIns="0" lIns="0" bIns="0" rIns="0">
            <a:spAutoFit/>
          </a:bodyPr>
          <a:lstStyle/>
          <a:p>
            <a:pPr algn="l">
              <a:lnSpc>
                <a:spcPts val="11469"/>
              </a:lnSpc>
            </a:pPr>
            <a:r>
              <a:rPr lang="en-US" sz="8192" b="true">
                <a:solidFill>
                  <a:srgbClr val="000000"/>
                </a:solidFill>
                <a:latin typeface="Century Gothic Paneuropean Bold"/>
                <a:ea typeface="Century Gothic Paneuropean Bold"/>
                <a:cs typeface="Century Gothic Paneuropean Bold"/>
                <a:sym typeface="Century Gothic Paneuropean Bold"/>
              </a:rPr>
              <a:t>KEY COMPONENTS OF A CNN</a:t>
            </a:r>
          </a:p>
          <a:p>
            <a:pPr algn="l">
              <a:lnSpc>
                <a:spcPts val="11469"/>
              </a:lnSpc>
            </a:pPr>
          </a:p>
        </p:txBody>
      </p:sp>
      <p:sp>
        <p:nvSpPr>
          <p:cNvPr name="TextBox 14" id="14"/>
          <p:cNvSpPr txBox="true"/>
          <p:nvPr/>
        </p:nvSpPr>
        <p:spPr>
          <a:xfrm rot="0">
            <a:off x="1739697" y="3289201"/>
            <a:ext cx="6969927" cy="5043171"/>
          </a:xfrm>
          <a:prstGeom prst="rect">
            <a:avLst/>
          </a:prstGeom>
        </p:spPr>
        <p:txBody>
          <a:bodyPr anchor="t" rtlCol="false" tIns="0" lIns="0" bIns="0" rIns="0">
            <a:spAutoFit/>
          </a:bodyPr>
          <a:lstStyle/>
          <a:p>
            <a:pPr algn="l">
              <a:lnSpc>
                <a:spcPts val="4479"/>
              </a:lnSpc>
            </a:pPr>
            <a:r>
              <a:rPr lang="en-US" sz="3199">
                <a:solidFill>
                  <a:srgbClr val="000000"/>
                </a:solidFill>
                <a:latin typeface="Century Gothic Paneuropean"/>
                <a:ea typeface="Century Gothic Paneuropean"/>
                <a:cs typeface="Century Gothic Paneuropean"/>
                <a:sym typeface="Century Gothic Paneuropean"/>
              </a:rPr>
              <a:t>The convolutional neural network is made of four main parts.</a:t>
            </a:r>
          </a:p>
          <a:p>
            <a:pPr algn="l" marL="690874" indent="-345437" lvl="1">
              <a:lnSpc>
                <a:spcPts val="4479"/>
              </a:lnSpc>
              <a:buFont typeface="Arial"/>
              <a:buChar char="•"/>
            </a:pPr>
            <a:r>
              <a:rPr lang="en-US" sz="3199">
                <a:solidFill>
                  <a:srgbClr val="000000"/>
                </a:solidFill>
                <a:latin typeface="Century Gothic Paneuropean"/>
                <a:ea typeface="Century Gothic Paneuropean"/>
                <a:cs typeface="Century Gothic Paneuropean"/>
                <a:sym typeface="Century Gothic Paneuropean"/>
              </a:rPr>
              <a:t>Convolutional layers</a:t>
            </a:r>
          </a:p>
          <a:p>
            <a:pPr algn="l" marL="690874" indent="-345437" lvl="1">
              <a:lnSpc>
                <a:spcPts val="4479"/>
              </a:lnSpc>
              <a:buFont typeface="Arial"/>
              <a:buChar char="•"/>
            </a:pPr>
            <a:r>
              <a:rPr lang="en-US" sz="3199">
                <a:solidFill>
                  <a:srgbClr val="000000"/>
                </a:solidFill>
                <a:latin typeface="Century Gothic Paneuropean"/>
                <a:ea typeface="Century Gothic Paneuropean"/>
                <a:cs typeface="Century Gothic Paneuropean"/>
                <a:sym typeface="Century Gothic Paneuropean"/>
              </a:rPr>
              <a:t>Rectified Linear Unit (ReLU for short)</a:t>
            </a:r>
          </a:p>
          <a:p>
            <a:pPr algn="l" marL="690874" indent="-345437" lvl="1">
              <a:lnSpc>
                <a:spcPts val="4479"/>
              </a:lnSpc>
              <a:buFont typeface="Arial"/>
              <a:buChar char="•"/>
            </a:pPr>
            <a:r>
              <a:rPr lang="en-US" sz="3199">
                <a:solidFill>
                  <a:srgbClr val="000000"/>
                </a:solidFill>
                <a:latin typeface="Century Gothic Paneuropean"/>
                <a:ea typeface="Century Gothic Paneuropean"/>
                <a:cs typeface="Century Gothic Paneuropean"/>
                <a:sym typeface="Century Gothic Paneuropean"/>
              </a:rPr>
              <a:t>Pooling layers</a:t>
            </a:r>
          </a:p>
          <a:p>
            <a:pPr algn="l" marL="690874" indent="-345437" lvl="1">
              <a:lnSpc>
                <a:spcPts val="4479"/>
              </a:lnSpc>
              <a:buFont typeface="Arial"/>
              <a:buChar char="•"/>
            </a:pPr>
            <a:r>
              <a:rPr lang="en-US" sz="3199">
                <a:solidFill>
                  <a:srgbClr val="000000"/>
                </a:solidFill>
                <a:latin typeface="Century Gothic Paneuropean"/>
                <a:ea typeface="Century Gothic Paneuropean"/>
                <a:cs typeface="Century Gothic Paneuropean"/>
                <a:sym typeface="Century Gothic Paneuropean"/>
              </a:rPr>
              <a:t>Fully connected layers</a:t>
            </a:r>
          </a:p>
          <a:p>
            <a:pPr algn="l">
              <a:lnSpc>
                <a:spcPts val="4479"/>
              </a:lnSpc>
            </a:pPr>
          </a:p>
          <a:p>
            <a:pPr algn="l">
              <a:lnSpc>
                <a:spcPts val="4479"/>
              </a:lnSpc>
            </a:pPr>
          </a:p>
        </p:txBody>
      </p:sp>
    </p:spTree>
  </p:cSld>
  <p:clrMapOvr>
    <a:masterClrMapping/>
  </p:clrMapOvr>
  <p:transition spd="fast">
    <p:cover dir="d"/>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9144000" y="1043480"/>
            <a:ext cx="8788438" cy="3614245"/>
          </a:xfrm>
          <a:custGeom>
            <a:avLst/>
            <a:gdLst/>
            <a:ahLst/>
            <a:cxnLst/>
            <a:rect r="r" b="b" t="t" l="l"/>
            <a:pathLst>
              <a:path h="3614245" w="8788438">
                <a:moveTo>
                  <a:pt x="0" y="0"/>
                </a:moveTo>
                <a:lnTo>
                  <a:pt x="8788438" y="0"/>
                </a:lnTo>
                <a:lnTo>
                  <a:pt x="8788438" y="3614245"/>
                </a:lnTo>
                <a:lnTo>
                  <a:pt x="0" y="3614245"/>
                </a:lnTo>
                <a:lnTo>
                  <a:pt x="0" y="0"/>
                </a:lnTo>
                <a:close/>
              </a:path>
            </a:pathLst>
          </a:custGeom>
          <a:blipFill>
            <a:blip r:embed="rId4"/>
            <a:stretch>
              <a:fillRect l="0" t="0" r="0" b="0"/>
            </a:stretch>
          </a:blipFill>
        </p:spPr>
      </p:sp>
      <p:pic>
        <p:nvPicPr>
          <p:cNvPr name="Picture 13" id="13">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0" b="0"/>
          <a:stretch>
            <a:fillRect/>
          </a:stretch>
        </p:blipFill>
        <p:spPr>
          <a:xfrm flipH="false" flipV="false" rot="0">
            <a:off x="9335310" y="4657725"/>
            <a:ext cx="9148655" cy="5146118"/>
          </a:xfrm>
          <a:prstGeom prst="rect">
            <a:avLst/>
          </a:prstGeom>
        </p:spPr>
      </p:pic>
      <p:sp>
        <p:nvSpPr>
          <p:cNvPr name="TextBox 14" id="14"/>
          <p:cNvSpPr txBox="true"/>
          <p:nvPr/>
        </p:nvSpPr>
        <p:spPr>
          <a:xfrm rot="0">
            <a:off x="1398418" y="1347719"/>
            <a:ext cx="15149885" cy="1384300"/>
          </a:xfrm>
          <a:prstGeom prst="rect">
            <a:avLst/>
          </a:prstGeom>
        </p:spPr>
        <p:txBody>
          <a:bodyPr anchor="t" rtlCol="false" tIns="0" lIns="0" bIns="0" rIns="0">
            <a:spAutoFit/>
          </a:bodyPr>
          <a:lstStyle/>
          <a:p>
            <a:pPr algn="l">
              <a:lnSpc>
                <a:spcPts val="5599"/>
              </a:lnSpc>
            </a:pPr>
            <a:r>
              <a:rPr lang="en-US" sz="3999" b="true">
                <a:solidFill>
                  <a:srgbClr val="000000"/>
                </a:solidFill>
                <a:latin typeface="Century Gothic Paneuropean Bold"/>
                <a:ea typeface="Century Gothic Paneuropean Bold"/>
                <a:cs typeface="Century Gothic Paneuropean Bold"/>
                <a:sym typeface="Century Gothic Paneuropean Bold"/>
              </a:rPr>
              <a:t>CONVOLUTION LAYERS</a:t>
            </a:r>
          </a:p>
          <a:p>
            <a:pPr algn="l">
              <a:lnSpc>
                <a:spcPts val="5599"/>
              </a:lnSpc>
            </a:pPr>
          </a:p>
        </p:txBody>
      </p:sp>
      <p:sp>
        <p:nvSpPr>
          <p:cNvPr name="TextBox 15" id="15"/>
          <p:cNvSpPr txBox="true"/>
          <p:nvPr/>
        </p:nvSpPr>
        <p:spPr>
          <a:xfrm rot="0">
            <a:off x="1398418" y="3132069"/>
            <a:ext cx="7574943" cy="5459095"/>
          </a:xfrm>
          <a:prstGeom prst="rect">
            <a:avLst/>
          </a:prstGeom>
        </p:spPr>
        <p:txBody>
          <a:bodyPr anchor="t" rtlCol="false" tIns="0" lIns="0" bIns="0" rIns="0">
            <a:spAutoFit/>
          </a:bodyPr>
          <a:lstStyle/>
          <a:p>
            <a:pPr algn="l">
              <a:lnSpc>
                <a:spcPts val="3079"/>
              </a:lnSpc>
            </a:pPr>
            <a:r>
              <a:rPr lang="en-US" sz="2199">
                <a:solidFill>
                  <a:srgbClr val="000000"/>
                </a:solidFill>
                <a:latin typeface="Century Gothic Paneuropean"/>
                <a:ea typeface="Century Gothic Paneuropean"/>
                <a:cs typeface="Century Gothic Paneuropean"/>
                <a:sym typeface="Century Gothic Paneuropean"/>
              </a:rPr>
              <a:t>This is the first building block of a CNN. As the name suggests, the main mathematical task performed is called convolution, which is the application of a sliding window function to a matrix of pixels representing an image. The sliding function applied to the matrix is called kernel or filter, and both can be used interchangeably.</a:t>
            </a:r>
          </a:p>
          <a:p>
            <a:pPr algn="l">
              <a:lnSpc>
                <a:spcPts val="3079"/>
              </a:lnSpc>
            </a:pPr>
            <a:r>
              <a:rPr lang="en-US" sz="2199">
                <a:solidFill>
                  <a:srgbClr val="000000"/>
                </a:solidFill>
                <a:latin typeface="Century Gothic Paneuropean"/>
                <a:ea typeface="Century Gothic Paneuropean"/>
                <a:cs typeface="Century Gothic Paneuropean"/>
                <a:sym typeface="Century Gothic Paneuropean"/>
              </a:rPr>
              <a:t>Let’s consider this 32x32 grayscale image of a handwritten digit. The values in the matrix are given. Also, let’s consider the kernel used for the convolution. It is a matrix with a dimension of 3x3. The weights of each element of the kernel is represented in the grid. Zero weights are represented in the black grids and ones in the white grid.</a:t>
            </a:r>
          </a:p>
        </p:txBody>
      </p:sp>
    </p:spTree>
  </p:cSld>
  <p:clrMapOvr>
    <a:masterClrMapping/>
  </p:clrMapOvr>
  <p:transition spd="fast">
    <p:cover dir="d"/>
  </p:transition>
  <p:timing>
    <p:tnLst>
      <p:par>
        <p:cTn dur="indefinite" restart="never" nodeType="tmRoot">
          <p:childTnLst>
            <p:video>
              <p:cMediaNode vol="0">
                <p:cTn fill="hold" display="false">
                  <p:stCondLst>
                    <p:cond delay="indefinite"/>
                  </p:stCondLst>
                </p:cTn>
                <p:tgtEl>
                  <p:spTgt spid="13"/>
                </p:tgtEl>
              </p:cMediaNode>
            </p:video>
          </p:childTnLst>
        </p:cTn>
      </p:par>
    </p:tnLst>
  </p:timing>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398418" y="1203007"/>
            <a:ext cx="15149885" cy="2294255"/>
          </a:xfrm>
          <a:prstGeom prst="rect">
            <a:avLst/>
          </a:prstGeom>
        </p:spPr>
        <p:txBody>
          <a:bodyPr anchor="t" rtlCol="false" tIns="0" lIns="0" bIns="0" rIns="0">
            <a:spAutoFit/>
          </a:bodyPr>
          <a:lstStyle/>
          <a:p>
            <a:pPr algn="l">
              <a:lnSpc>
                <a:spcPts val="7139"/>
              </a:lnSpc>
            </a:pPr>
            <a:r>
              <a:rPr lang="en-US" b="true" sz="5099" spc="-56">
                <a:solidFill>
                  <a:srgbClr val="000000"/>
                </a:solidFill>
                <a:latin typeface="Century Gothic Paneuropean Bold"/>
                <a:ea typeface="Century Gothic Paneuropean Bold"/>
                <a:cs typeface="Century Gothic Paneuropean Bold"/>
                <a:sym typeface="Century Gothic Paneuropean Bold"/>
              </a:rPr>
              <a:t>STRIDE</a:t>
            </a:r>
          </a:p>
          <a:p>
            <a:pPr algn="l">
              <a:lnSpc>
                <a:spcPts val="5599"/>
              </a:lnSpc>
            </a:pPr>
          </a:p>
          <a:p>
            <a:pPr algn="l">
              <a:lnSpc>
                <a:spcPts val="5599"/>
              </a:lnSpc>
            </a:pPr>
          </a:p>
        </p:txBody>
      </p:sp>
      <p:grpSp>
        <p:nvGrpSpPr>
          <p:cNvPr name="Group 13" id="13"/>
          <p:cNvGrpSpPr/>
          <p:nvPr/>
        </p:nvGrpSpPr>
        <p:grpSpPr>
          <a:xfrm rot="0">
            <a:off x="10912003" y="1028700"/>
            <a:ext cx="5104065" cy="5388118"/>
            <a:chOff x="0" y="0"/>
            <a:chExt cx="6805420" cy="7184157"/>
          </a:xfrm>
        </p:grpSpPr>
        <p:sp>
          <p:nvSpPr>
            <p:cNvPr name="Freeform 14" id="14"/>
            <p:cNvSpPr/>
            <p:nvPr/>
          </p:nvSpPr>
          <p:spPr>
            <a:xfrm flipH="false" flipV="false" rot="0">
              <a:off x="0" y="2509889"/>
              <a:ext cx="2697380" cy="2623140"/>
            </a:xfrm>
            <a:custGeom>
              <a:avLst/>
              <a:gdLst/>
              <a:ahLst/>
              <a:cxnLst/>
              <a:rect r="r" b="b" t="t" l="l"/>
              <a:pathLst>
                <a:path h="2623140" w="2697380">
                  <a:moveTo>
                    <a:pt x="0" y="0"/>
                  </a:moveTo>
                  <a:lnTo>
                    <a:pt x="2697380" y="0"/>
                  </a:lnTo>
                  <a:lnTo>
                    <a:pt x="2697380" y="2623140"/>
                  </a:lnTo>
                  <a:lnTo>
                    <a:pt x="0" y="2623140"/>
                  </a:lnTo>
                  <a:lnTo>
                    <a:pt x="0" y="0"/>
                  </a:lnTo>
                  <a:close/>
                </a:path>
              </a:pathLst>
            </a:custGeom>
            <a:blipFill>
              <a:blip r:embed="rId4"/>
              <a:stretch>
                <a:fillRect l="0" t="0" r="0" b="0"/>
              </a:stretch>
            </a:blipFill>
          </p:spPr>
        </p:sp>
        <p:sp>
          <p:nvSpPr>
            <p:cNvPr name="Freeform 15" id="15"/>
            <p:cNvSpPr/>
            <p:nvPr/>
          </p:nvSpPr>
          <p:spPr>
            <a:xfrm flipH="false" flipV="false" rot="0">
              <a:off x="3798219" y="582584"/>
              <a:ext cx="2842642" cy="2671103"/>
            </a:xfrm>
            <a:custGeom>
              <a:avLst/>
              <a:gdLst/>
              <a:ahLst/>
              <a:cxnLst/>
              <a:rect r="r" b="b" t="t" l="l"/>
              <a:pathLst>
                <a:path h="2671103" w="2842642">
                  <a:moveTo>
                    <a:pt x="0" y="0"/>
                  </a:moveTo>
                  <a:lnTo>
                    <a:pt x="2842642" y="0"/>
                  </a:lnTo>
                  <a:lnTo>
                    <a:pt x="2842642" y="2671103"/>
                  </a:lnTo>
                  <a:lnTo>
                    <a:pt x="0" y="2671103"/>
                  </a:lnTo>
                  <a:lnTo>
                    <a:pt x="0" y="0"/>
                  </a:lnTo>
                  <a:close/>
                </a:path>
              </a:pathLst>
            </a:custGeom>
            <a:blipFill>
              <a:blip r:embed="rId5"/>
              <a:stretch>
                <a:fillRect l="0" t="0" r="0" b="0"/>
              </a:stretch>
            </a:blipFill>
          </p:spPr>
        </p:sp>
        <p:sp>
          <p:nvSpPr>
            <p:cNvPr name="Freeform 16" id="16"/>
            <p:cNvSpPr/>
            <p:nvPr/>
          </p:nvSpPr>
          <p:spPr>
            <a:xfrm flipH="false" flipV="false" rot="0">
              <a:off x="3933219" y="4286651"/>
              <a:ext cx="2872200" cy="2897506"/>
            </a:xfrm>
            <a:custGeom>
              <a:avLst/>
              <a:gdLst/>
              <a:ahLst/>
              <a:cxnLst/>
              <a:rect r="r" b="b" t="t" l="l"/>
              <a:pathLst>
                <a:path h="2897506" w="2872200">
                  <a:moveTo>
                    <a:pt x="0" y="0"/>
                  </a:moveTo>
                  <a:lnTo>
                    <a:pt x="2872201" y="0"/>
                  </a:lnTo>
                  <a:lnTo>
                    <a:pt x="2872201" y="2897506"/>
                  </a:lnTo>
                  <a:lnTo>
                    <a:pt x="0" y="2897506"/>
                  </a:lnTo>
                  <a:lnTo>
                    <a:pt x="0" y="0"/>
                  </a:lnTo>
                  <a:close/>
                </a:path>
              </a:pathLst>
            </a:custGeom>
            <a:blipFill>
              <a:blip r:embed="rId6"/>
              <a:stretch>
                <a:fillRect l="0" t="0" r="0" b="0"/>
              </a:stretch>
            </a:blipFill>
          </p:spPr>
        </p:sp>
        <p:sp>
          <p:nvSpPr>
            <p:cNvPr name="TextBox 17" id="17"/>
            <p:cNvSpPr txBox="true"/>
            <p:nvPr/>
          </p:nvSpPr>
          <p:spPr>
            <a:xfrm rot="0">
              <a:off x="3975387" y="-28575"/>
              <a:ext cx="2830032" cy="611159"/>
            </a:xfrm>
            <a:prstGeom prst="rect">
              <a:avLst/>
            </a:prstGeom>
          </p:spPr>
          <p:txBody>
            <a:bodyPr anchor="t" rtlCol="false" tIns="0" lIns="0" bIns="0" rIns="0">
              <a:spAutoFit/>
            </a:bodyPr>
            <a:lstStyle/>
            <a:p>
              <a:pPr algn="l">
                <a:lnSpc>
                  <a:spcPts val="1879"/>
                </a:lnSpc>
                <a:spcBef>
                  <a:spcPct val="0"/>
                </a:spcBef>
              </a:pPr>
              <a:r>
                <a:rPr lang="en-US" sz="1342">
                  <a:solidFill>
                    <a:srgbClr val="000000"/>
                  </a:solidFill>
                  <a:latin typeface="Open Sans"/>
                  <a:ea typeface="Open Sans"/>
                  <a:cs typeface="Open Sans"/>
                  <a:sym typeface="Open Sans"/>
                </a:rPr>
                <a:t>If stride = 1, the filter will move one pixel</a:t>
              </a:r>
            </a:p>
          </p:txBody>
        </p:sp>
        <p:sp>
          <p:nvSpPr>
            <p:cNvPr name="TextBox 18" id="18"/>
            <p:cNvSpPr txBox="true"/>
            <p:nvPr/>
          </p:nvSpPr>
          <p:spPr>
            <a:xfrm rot="0">
              <a:off x="3973378" y="3451191"/>
              <a:ext cx="2667483" cy="611159"/>
            </a:xfrm>
            <a:prstGeom prst="rect">
              <a:avLst/>
            </a:prstGeom>
          </p:spPr>
          <p:txBody>
            <a:bodyPr anchor="t" rtlCol="false" tIns="0" lIns="0" bIns="0" rIns="0">
              <a:spAutoFit/>
            </a:bodyPr>
            <a:lstStyle/>
            <a:p>
              <a:pPr algn="l">
                <a:lnSpc>
                  <a:spcPts val="1879"/>
                </a:lnSpc>
                <a:spcBef>
                  <a:spcPct val="0"/>
                </a:spcBef>
              </a:pPr>
              <a:r>
                <a:rPr lang="en-US" sz="1342">
                  <a:solidFill>
                    <a:srgbClr val="000000"/>
                  </a:solidFill>
                  <a:latin typeface="Open Sans"/>
                  <a:ea typeface="Open Sans"/>
                  <a:cs typeface="Open Sans"/>
                  <a:sym typeface="Open Sans"/>
                </a:rPr>
                <a:t>If stride = 2, the filter will move two pixels.</a:t>
              </a:r>
            </a:p>
          </p:txBody>
        </p:sp>
      </p:grpSp>
      <p:pic>
        <p:nvPicPr>
          <p:cNvPr name="Picture 19" id="19">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0" r="0" b="0"/>
          <a:stretch>
            <a:fillRect/>
          </a:stretch>
        </p:blipFill>
        <p:spPr>
          <a:xfrm flipH="false" flipV="false" rot="0">
            <a:off x="10912003" y="6106040"/>
            <a:ext cx="6177487" cy="3088744"/>
          </a:xfrm>
          <a:prstGeom prst="rect">
            <a:avLst/>
          </a:prstGeom>
        </p:spPr>
      </p:pic>
      <p:sp>
        <p:nvSpPr>
          <p:cNvPr name="TextBox 20" id="20"/>
          <p:cNvSpPr txBox="true"/>
          <p:nvPr/>
        </p:nvSpPr>
        <p:spPr>
          <a:xfrm rot="0">
            <a:off x="1569057" y="2153812"/>
            <a:ext cx="8818174" cy="3506470"/>
          </a:xfrm>
          <a:prstGeom prst="rect">
            <a:avLst/>
          </a:prstGeom>
        </p:spPr>
        <p:txBody>
          <a:bodyPr anchor="t" rtlCol="false" tIns="0" lIns="0" bIns="0" rIns="0">
            <a:spAutoFit/>
          </a:bodyPr>
          <a:lstStyle/>
          <a:p>
            <a:pPr algn="l">
              <a:lnSpc>
                <a:spcPts val="3079"/>
              </a:lnSpc>
            </a:pPr>
            <a:r>
              <a:rPr lang="en-US" sz="2199" spc="-6">
                <a:solidFill>
                  <a:srgbClr val="000000"/>
                </a:solidFill>
                <a:latin typeface="Century Gothic Paneuropean"/>
                <a:ea typeface="Century Gothic Paneuropean"/>
                <a:cs typeface="Century Gothic Paneuropean"/>
                <a:sym typeface="Century Gothic Paneuropean"/>
              </a:rPr>
              <a:t>Stride is how far the filter </a:t>
            </a:r>
            <a:r>
              <a:rPr lang="en-US" sz="2199" spc="-6">
                <a:solidFill>
                  <a:srgbClr val="000000"/>
                </a:solidFill>
                <a:latin typeface="Century Gothic Paneuropean"/>
                <a:ea typeface="Century Gothic Paneuropean"/>
                <a:cs typeface="Century Gothic Paneuropean"/>
                <a:sym typeface="Century Gothic Paneuropean"/>
              </a:rPr>
              <a:t>moves in every step along one direction. we define how far the filter moves from one position to the next position by “stride”. Let’s look at an example. The red square is a filter. The computer is going to use this filter to scan the image. The output shape formula with strides is:</a:t>
            </a:r>
          </a:p>
          <a:p>
            <a:pPr algn="l">
              <a:lnSpc>
                <a:spcPts val="3079"/>
              </a:lnSpc>
            </a:pPr>
            <a:r>
              <a:rPr lang="en-US" sz="2199" spc="-6">
                <a:solidFill>
                  <a:srgbClr val="000000"/>
                </a:solidFill>
                <a:latin typeface="Century Gothic Paneuropean"/>
                <a:ea typeface="Century Gothic Paneuropean"/>
                <a:cs typeface="Century Gothic Paneuropean"/>
                <a:sym typeface="Century Gothic Paneuropean"/>
              </a:rPr>
              <a:t>Output shape = ((n + 2p — f) / s + 1) x ((n + 2p — f) / s + 1) Where s is the stride value.</a:t>
            </a:r>
          </a:p>
          <a:p>
            <a:pPr algn="l">
              <a:lnSpc>
                <a:spcPts val="3079"/>
              </a:lnSpc>
            </a:pPr>
          </a:p>
          <a:p>
            <a:pPr algn="l">
              <a:lnSpc>
                <a:spcPts val="3079"/>
              </a:lnSpc>
            </a:pPr>
          </a:p>
        </p:txBody>
      </p:sp>
      <p:sp>
        <p:nvSpPr>
          <p:cNvPr name="TextBox 21" id="21"/>
          <p:cNvSpPr txBox="true"/>
          <p:nvPr/>
        </p:nvSpPr>
        <p:spPr>
          <a:xfrm rot="0">
            <a:off x="1398418" y="4831715"/>
            <a:ext cx="15149885" cy="1589405"/>
          </a:xfrm>
          <a:prstGeom prst="rect">
            <a:avLst/>
          </a:prstGeom>
        </p:spPr>
        <p:txBody>
          <a:bodyPr anchor="t" rtlCol="false" tIns="0" lIns="0" bIns="0" rIns="0">
            <a:spAutoFit/>
          </a:bodyPr>
          <a:lstStyle/>
          <a:p>
            <a:pPr algn="l">
              <a:lnSpc>
                <a:spcPts val="7139"/>
              </a:lnSpc>
            </a:pPr>
            <a:r>
              <a:rPr lang="en-US" b="true" sz="5099" spc="-56">
                <a:solidFill>
                  <a:srgbClr val="000000"/>
                </a:solidFill>
                <a:latin typeface="Century Gothic Paneuropean Bold"/>
                <a:ea typeface="Century Gothic Paneuropean Bold"/>
                <a:cs typeface="Century Gothic Paneuropean Bold"/>
                <a:sym typeface="Century Gothic Paneuropean Bold"/>
              </a:rPr>
              <a:t>PADDING</a:t>
            </a:r>
          </a:p>
          <a:p>
            <a:pPr algn="l">
              <a:lnSpc>
                <a:spcPts val="5599"/>
              </a:lnSpc>
            </a:pPr>
          </a:p>
        </p:txBody>
      </p:sp>
      <p:sp>
        <p:nvSpPr>
          <p:cNvPr name="TextBox 22" id="22"/>
          <p:cNvSpPr txBox="true"/>
          <p:nvPr/>
        </p:nvSpPr>
        <p:spPr>
          <a:xfrm rot="0">
            <a:off x="1562977" y="5847080"/>
            <a:ext cx="8818174" cy="3506470"/>
          </a:xfrm>
          <a:prstGeom prst="rect">
            <a:avLst/>
          </a:prstGeom>
        </p:spPr>
        <p:txBody>
          <a:bodyPr anchor="t" rtlCol="false" tIns="0" lIns="0" bIns="0" rIns="0">
            <a:spAutoFit/>
          </a:bodyPr>
          <a:lstStyle/>
          <a:p>
            <a:pPr algn="l">
              <a:lnSpc>
                <a:spcPts val="3079"/>
              </a:lnSpc>
            </a:pPr>
            <a:r>
              <a:rPr lang="en-US" sz="2199">
                <a:solidFill>
                  <a:srgbClr val="000000"/>
                </a:solidFill>
                <a:latin typeface="Century Gothic Paneuropean"/>
                <a:ea typeface="Century Gothic Paneuropean"/>
                <a:cs typeface="Century Gothic Paneuropean"/>
                <a:sym typeface="Century Gothic Paneuropean"/>
              </a:rPr>
              <a:t>Padding</a:t>
            </a:r>
            <a:r>
              <a:rPr lang="en-US" sz="2199">
                <a:solidFill>
                  <a:srgbClr val="000000"/>
                </a:solidFill>
                <a:latin typeface="Century Gothic Paneuropean"/>
                <a:ea typeface="Century Gothic Paneuropean"/>
                <a:cs typeface="Century Gothic Paneuropean"/>
                <a:sym typeface="Century Gothic Paneuropean"/>
              </a:rPr>
              <a:t> involves adding extra pixel rows/columns around the borders of an input image.</a:t>
            </a:r>
          </a:p>
          <a:p>
            <a:pPr algn="l">
              <a:lnSpc>
                <a:spcPts val="3079"/>
              </a:lnSpc>
            </a:pPr>
            <a:r>
              <a:rPr lang="en-US" sz="2199">
                <a:solidFill>
                  <a:srgbClr val="000000"/>
                </a:solidFill>
                <a:latin typeface="Century Gothic Paneuropean"/>
                <a:ea typeface="Century Gothic Paneuropean"/>
                <a:cs typeface="Century Gothic Paneuropean"/>
                <a:sym typeface="Century Gothic Paneuropean"/>
              </a:rPr>
              <a:t>In the example above, the 5x5 image is padded to 7x7 by adding a single pixel row/column boundary with values of zero. This is called zero padding .</a:t>
            </a:r>
          </a:p>
          <a:p>
            <a:pPr algn="l">
              <a:lnSpc>
                <a:spcPts val="3079"/>
              </a:lnSpc>
            </a:pPr>
            <a:r>
              <a:rPr lang="en-US" sz="2199" spc="-6">
                <a:solidFill>
                  <a:srgbClr val="000000"/>
                </a:solidFill>
                <a:latin typeface="Century Gothic Paneuropean"/>
                <a:ea typeface="Century Gothic Paneuropean"/>
                <a:cs typeface="Century Gothic Paneuropean"/>
                <a:sym typeface="Century Gothic Paneuropean"/>
              </a:rPr>
              <a:t>The formula for calculating output shape after padding is:</a:t>
            </a:r>
          </a:p>
          <a:p>
            <a:pPr algn="l">
              <a:lnSpc>
                <a:spcPts val="3079"/>
              </a:lnSpc>
            </a:pPr>
            <a:r>
              <a:rPr lang="en-US" sz="2199" spc="-6">
                <a:solidFill>
                  <a:srgbClr val="000000"/>
                </a:solidFill>
                <a:latin typeface="Century Gothic Paneuropean"/>
                <a:ea typeface="Century Gothic Paneuropean"/>
                <a:cs typeface="Century Gothic Paneuropean"/>
                <a:sym typeface="Century Gothic Paneuropean"/>
              </a:rPr>
              <a:t>Output shape = (n + 2p — f + 1) x (n + 2p — f + 1) Where n is input size, f is filter size, and p is the padding amount.</a:t>
            </a:r>
          </a:p>
          <a:p>
            <a:pPr algn="l">
              <a:lnSpc>
                <a:spcPts val="3079"/>
              </a:lnSpc>
            </a:pPr>
          </a:p>
        </p:txBody>
      </p:sp>
    </p:spTree>
  </p:cSld>
  <p:clrMapOvr>
    <a:masterClrMapping/>
  </p:clrMapOvr>
  <p:transition spd="fast">
    <p:cover dir="d"/>
  </p:transition>
  <p:timing>
    <p:tnLst>
      <p:par>
        <p:cTn dur="indefinite" restart="never" nodeType="tmRoot">
          <p:childTnLst>
            <p:video>
              <p:cMediaNode vol="0">
                <p:cTn fill="hold" display="false">
                  <p:stCondLst>
                    <p:cond delay="indefinite"/>
                  </p:stCondLst>
                </p:cTn>
                <p:tgtEl>
                  <p:spTgt spid="19"/>
                </p:tgtEl>
              </p:cMediaNode>
            </p:video>
          </p:childTnLst>
        </p:cTn>
      </p:par>
    </p:tnLst>
  </p:timing>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1226416" y="3085173"/>
            <a:ext cx="6573241" cy="3296988"/>
          </a:xfrm>
          <a:custGeom>
            <a:avLst/>
            <a:gdLst/>
            <a:ahLst/>
            <a:cxnLst/>
            <a:rect r="r" b="b" t="t" l="l"/>
            <a:pathLst>
              <a:path h="3296988" w="6573241">
                <a:moveTo>
                  <a:pt x="0" y="0"/>
                </a:moveTo>
                <a:lnTo>
                  <a:pt x="6573241" y="0"/>
                </a:lnTo>
                <a:lnTo>
                  <a:pt x="6573241" y="3296988"/>
                </a:lnTo>
                <a:lnTo>
                  <a:pt x="0" y="3296988"/>
                </a:lnTo>
                <a:lnTo>
                  <a:pt x="0" y="0"/>
                </a:lnTo>
                <a:close/>
              </a:path>
            </a:pathLst>
          </a:custGeom>
          <a:blipFill>
            <a:blip r:embed="rId4"/>
            <a:stretch>
              <a:fillRect l="0" t="0" r="0" b="0"/>
            </a:stretch>
          </a:blipFill>
        </p:spPr>
      </p:sp>
      <p:sp>
        <p:nvSpPr>
          <p:cNvPr name="TextBox 13" id="13"/>
          <p:cNvSpPr txBox="true"/>
          <p:nvPr/>
        </p:nvSpPr>
        <p:spPr>
          <a:xfrm rot="0">
            <a:off x="1398418" y="1236765"/>
            <a:ext cx="15149885"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Century Gothic Paneuropean Bold"/>
                <a:ea typeface="Century Gothic Paneuropean Bold"/>
                <a:cs typeface="Century Gothic Paneuropean Bold"/>
                <a:sym typeface="Century Gothic Paneuropean Bold"/>
              </a:rPr>
              <a:t>ACTIVATION FUNCTIONS</a:t>
            </a:r>
          </a:p>
        </p:txBody>
      </p:sp>
      <p:sp>
        <p:nvSpPr>
          <p:cNvPr name="TextBox 14" id="14"/>
          <p:cNvSpPr txBox="true"/>
          <p:nvPr/>
        </p:nvSpPr>
        <p:spPr>
          <a:xfrm rot="0">
            <a:off x="1213167" y="2239642"/>
            <a:ext cx="9609146" cy="7018658"/>
          </a:xfrm>
          <a:prstGeom prst="rect">
            <a:avLst/>
          </a:prstGeom>
        </p:spPr>
        <p:txBody>
          <a:bodyPr anchor="t" rtlCol="false" tIns="0" lIns="0" bIns="0" rIns="0">
            <a:spAutoFit/>
          </a:bodyPr>
          <a:lstStyle/>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In Convolutional Neural Networks (CNNs), the activation function is a critical component that introduces non-linearity into the network and helps it learn complex patterns in the input data. The activation function is applied to the output of each convolutional or fully connected layer in the CNN.</a:t>
            </a:r>
          </a:p>
          <a:p>
            <a:pPr algn="l">
              <a:lnSpc>
                <a:spcPts val="3265"/>
              </a:lnSpc>
            </a:pPr>
          </a:p>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 </a:t>
            </a:r>
            <a:r>
              <a:rPr lang="en-US" sz="2332" b="true">
                <a:solidFill>
                  <a:srgbClr val="000000"/>
                </a:solidFill>
                <a:latin typeface="Century Gothic Paneuropean Bold"/>
                <a:ea typeface="Century Gothic Paneuropean Bold"/>
                <a:cs typeface="Century Gothic Paneuropean Bold"/>
                <a:sym typeface="Century Gothic Paneuropean Bold"/>
              </a:rPr>
              <a:t>ReLU (Rectified Linear Unit):</a:t>
            </a:r>
          </a:p>
          <a:p>
            <a:pPr algn="l" marL="1007322" indent="-335774" lvl="2">
              <a:lnSpc>
                <a:spcPts val="3265"/>
              </a:lnSpc>
              <a:buFont typeface="Arial"/>
              <a:buChar char="⚬"/>
            </a:pPr>
            <a:r>
              <a:rPr lang="en-US" sz="2332">
                <a:solidFill>
                  <a:srgbClr val="000000"/>
                </a:solidFill>
                <a:latin typeface="Century Gothic Paneuropean"/>
                <a:ea typeface="Century Gothic Paneuropean"/>
                <a:cs typeface="Century Gothic Paneuropean"/>
                <a:sym typeface="Century Gothic Paneuropean"/>
              </a:rPr>
              <a:t>The ReLU activation function is the most commonly used activation function in CNNs.</a:t>
            </a:r>
          </a:p>
          <a:p>
            <a:pPr algn="l" marL="1007322" indent="-335774" lvl="2">
              <a:lnSpc>
                <a:spcPts val="3265"/>
              </a:lnSpc>
              <a:buFont typeface="Arial"/>
              <a:buChar char="⚬"/>
            </a:pPr>
            <a:r>
              <a:rPr lang="en-US" sz="2332">
                <a:solidFill>
                  <a:srgbClr val="000000"/>
                </a:solidFill>
                <a:latin typeface="Century Gothic Paneuropean"/>
                <a:ea typeface="Century Gothic Paneuropean"/>
                <a:cs typeface="Century Gothic Paneuropean"/>
                <a:sym typeface="Century Gothic Paneuropean"/>
              </a:rPr>
              <a:t>It applies the function f(x) = max(0, x), which means it sets all negative values to 0 and passes positive values as is.</a:t>
            </a:r>
          </a:p>
          <a:p>
            <a:pPr algn="l" marL="1007322" indent="-335774" lvl="2">
              <a:lnSpc>
                <a:spcPts val="3265"/>
              </a:lnSpc>
              <a:buFont typeface="Arial"/>
              <a:buChar char="⚬"/>
            </a:pPr>
            <a:r>
              <a:rPr lang="en-US" sz="2332">
                <a:solidFill>
                  <a:srgbClr val="000000"/>
                </a:solidFill>
                <a:latin typeface="Century Gothic Paneuropean"/>
                <a:ea typeface="Century Gothic Paneuropean"/>
                <a:cs typeface="Century Gothic Paneuropean"/>
                <a:sym typeface="Century Gothic Paneuropean"/>
              </a:rPr>
              <a:t>ReLU is simple to compute, helps with the problem of vanishing gradients, and often leads to faster convergence during training.</a:t>
            </a:r>
          </a:p>
          <a:p>
            <a:pPr algn="l">
              <a:lnSpc>
                <a:spcPts val="3265"/>
              </a:lnSpc>
            </a:pPr>
          </a:p>
          <a:p>
            <a:pPr algn="l">
              <a:lnSpc>
                <a:spcPts val="3265"/>
              </a:lnSpc>
            </a:pPr>
          </a:p>
          <a:p>
            <a:pPr algn="l">
              <a:lnSpc>
                <a:spcPts val="3265"/>
              </a:lnSpc>
            </a:pPr>
          </a:p>
        </p:txBody>
      </p:sp>
    </p:spTree>
  </p:cSld>
  <p:clrMapOvr>
    <a:masterClrMapping/>
  </p:clrMapOvr>
  <p:transition spd="fast">
    <p:cover dir="d"/>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pic>
        <p:nvPicPr>
          <p:cNvPr name="Picture 12" id="12">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11679218" y="2750978"/>
            <a:ext cx="6316257" cy="4785043"/>
          </a:xfrm>
          <a:prstGeom prst="rect">
            <a:avLst/>
          </a:prstGeom>
        </p:spPr>
      </p:pic>
      <p:sp>
        <p:nvSpPr>
          <p:cNvPr name="TextBox 13" id="13"/>
          <p:cNvSpPr txBox="true"/>
          <p:nvPr/>
        </p:nvSpPr>
        <p:spPr>
          <a:xfrm rot="0">
            <a:off x="1398418" y="2316679"/>
            <a:ext cx="10280800" cy="6532046"/>
          </a:xfrm>
          <a:prstGeom prst="rect">
            <a:avLst/>
          </a:prstGeom>
        </p:spPr>
        <p:txBody>
          <a:bodyPr anchor="t" rtlCol="false" tIns="0" lIns="0" bIns="0" rIns="0">
            <a:spAutoFit/>
          </a:bodyPr>
          <a:lstStyle/>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Pooling is a fundamental operation in Convolutional Neural Networks (CNNs) </a:t>
            </a:r>
            <a:r>
              <a:rPr lang="en-US" sz="2332">
                <a:solidFill>
                  <a:srgbClr val="000000"/>
                </a:solidFill>
                <a:latin typeface="Century Gothic Paneuropean"/>
                <a:ea typeface="Century Gothic Paneuropean"/>
                <a:cs typeface="Century Gothic Paneuropean"/>
                <a:sym typeface="Century Gothic Paneuropean"/>
              </a:rPr>
              <a:t>t</a:t>
            </a:r>
            <a:r>
              <a:rPr lang="en-US" sz="2332">
                <a:solidFill>
                  <a:srgbClr val="000000"/>
                </a:solidFill>
                <a:latin typeface="Century Gothic Paneuropean"/>
                <a:ea typeface="Century Gothic Paneuropean"/>
                <a:cs typeface="Century Gothic Paneuropean"/>
                <a:sym typeface="Century Gothic Paneuropean"/>
              </a:rPr>
              <a:t>hat plays a crucial role in downsampling feature maps while retaining important information. In a Convolutional Neural Network (CNN), pooling layers serve the purpose of reducing spatial dimensions of the input data while retaining the most important features. This is achieved through down-sampling techniques such as max pooling or average pooling. Pooling layers help in:</a:t>
            </a:r>
          </a:p>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·Reducing the number of parameters and computations</a:t>
            </a:r>
          </a:p>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·Increasing the robustness to small translations and distortions</a:t>
            </a:r>
          </a:p>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·Capturing more abstract and invariant features</a:t>
            </a:r>
          </a:p>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·Improving the network's ability to handle larger images and spatial hierarchies</a:t>
            </a:r>
          </a:p>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By doing so, pooling layers enable CNNs to learn more complex and robust representations of the input data.</a:t>
            </a:r>
          </a:p>
          <a:p>
            <a:pPr algn="l">
              <a:lnSpc>
                <a:spcPts val="3265"/>
              </a:lnSpc>
            </a:pPr>
          </a:p>
          <a:p>
            <a:pPr algn="l">
              <a:lnSpc>
                <a:spcPts val="3265"/>
              </a:lnSpc>
            </a:pPr>
          </a:p>
        </p:txBody>
      </p:sp>
      <p:sp>
        <p:nvSpPr>
          <p:cNvPr name="TextBox 14" id="14"/>
          <p:cNvSpPr txBox="true"/>
          <p:nvPr/>
        </p:nvSpPr>
        <p:spPr>
          <a:xfrm rot="0">
            <a:off x="1398418" y="1236765"/>
            <a:ext cx="15149885"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Century Gothic Paneuropean Bold"/>
                <a:ea typeface="Century Gothic Paneuropean Bold"/>
                <a:cs typeface="Century Gothic Paneuropean Bold"/>
                <a:sym typeface="Century Gothic Paneuropean Bold"/>
              </a:rPr>
              <a:t>POOLING</a:t>
            </a:r>
          </a:p>
        </p:txBody>
      </p:sp>
    </p:spTree>
  </p:cSld>
  <p:clrMapOvr>
    <a:masterClrMapping/>
  </p:clrMapOvr>
  <p:transition spd="fast">
    <p:cover dir="d"/>
  </p:transition>
  <p:timing>
    <p:tnLst>
      <p:par>
        <p:cTn dur="indefinite" restart="never" nodeType="tmRoot">
          <p:childTnLst>
            <p:video>
              <p:cMediaNode vol="0">
                <p:cTn fill="hold" display="false">
                  <p:stCondLst>
                    <p:cond delay="indefinite"/>
                  </p:stCondLst>
                </p:cTn>
                <p:tgtEl>
                  <p:spTgt spid="12"/>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6538818" y="3933825"/>
            <a:ext cx="11301259" cy="5396351"/>
          </a:xfrm>
          <a:custGeom>
            <a:avLst/>
            <a:gdLst/>
            <a:ahLst/>
            <a:cxnLst/>
            <a:rect r="r" b="b" t="t" l="l"/>
            <a:pathLst>
              <a:path h="5396351" w="11301259">
                <a:moveTo>
                  <a:pt x="0" y="0"/>
                </a:moveTo>
                <a:lnTo>
                  <a:pt x="11301259" y="0"/>
                </a:lnTo>
                <a:lnTo>
                  <a:pt x="11301259" y="5396351"/>
                </a:lnTo>
                <a:lnTo>
                  <a:pt x="0" y="5396351"/>
                </a:lnTo>
                <a:lnTo>
                  <a:pt x="0" y="0"/>
                </a:lnTo>
                <a:close/>
              </a:path>
            </a:pathLst>
          </a:custGeom>
          <a:blipFill>
            <a:blip r:embed="rId4"/>
            <a:stretch>
              <a:fillRect l="0" t="0" r="0" b="0"/>
            </a:stretch>
          </a:blipFill>
        </p:spPr>
      </p:sp>
      <p:sp>
        <p:nvSpPr>
          <p:cNvPr name="TextBox 13" id="13"/>
          <p:cNvSpPr txBox="true"/>
          <p:nvPr/>
        </p:nvSpPr>
        <p:spPr>
          <a:xfrm rot="0">
            <a:off x="1398418" y="2316679"/>
            <a:ext cx="10280800" cy="3255446"/>
          </a:xfrm>
          <a:prstGeom prst="rect">
            <a:avLst/>
          </a:prstGeom>
        </p:spPr>
        <p:txBody>
          <a:bodyPr anchor="t" rtlCol="false" tIns="0" lIns="0" bIns="0" rIns="0">
            <a:spAutoFit/>
          </a:bodyPr>
          <a:lstStyle/>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In Convolutional Neural Networks (CNNs), </a:t>
            </a:r>
            <a:r>
              <a:rPr lang="en-US" sz="2332">
                <a:solidFill>
                  <a:srgbClr val="000000"/>
                </a:solidFill>
                <a:latin typeface="Century Gothic Paneuropean"/>
                <a:ea typeface="Century Gothic Paneuropean"/>
                <a:cs typeface="Century Gothic Paneuropean"/>
                <a:sym typeface="Century Gothic Paneuropean"/>
              </a:rPr>
              <a:t>t</a:t>
            </a:r>
            <a:r>
              <a:rPr lang="en-US" sz="2332">
                <a:solidFill>
                  <a:srgbClr val="000000"/>
                </a:solidFill>
                <a:latin typeface="Century Gothic Paneuropean"/>
                <a:ea typeface="Century Gothic Paneuropean"/>
                <a:cs typeface="Century Gothic Paneuropean"/>
                <a:sym typeface="Century Gothic Paneuropean"/>
              </a:rPr>
              <a:t>he flatten layer transforms the multi-dimensional output from convolutional and pooling layers into a one-dimensional vector, preparing it for input into fully connected (dense) layers. </a:t>
            </a:r>
          </a:p>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Example: </a:t>
            </a:r>
          </a:p>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A 3x3x1 tensor (from convolutional/pooling layers) would be flattened into a vector of size 9 (3 * 3 * 1). </a:t>
            </a:r>
          </a:p>
          <a:p>
            <a:pPr algn="l">
              <a:lnSpc>
                <a:spcPts val="3265"/>
              </a:lnSpc>
            </a:pPr>
          </a:p>
        </p:txBody>
      </p:sp>
      <p:sp>
        <p:nvSpPr>
          <p:cNvPr name="TextBox 14" id="14"/>
          <p:cNvSpPr txBox="true"/>
          <p:nvPr/>
        </p:nvSpPr>
        <p:spPr>
          <a:xfrm rot="0">
            <a:off x="1398418" y="1236765"/>
            <a:ext cx="15149885"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Century Gothic Paneuropean Bold"/>
                <a:ea typeface="Century Gothic Paneuropean Bold"/>
                <a:cs typeface="Century Gothic Paneuropean Bold"/>
                <a:sym typeface="Century Gothic Paneuropean Bold"/>
              </a:rPr>
              <a:t>FLATTENING</a:t>
            </a:r>
          </a:p>
        </p:txBody>
      </p:sp>
    </p:spTree>
  </p:cSld>
  <p:clrMapOvr>
    <a:masterClrMapping/>
  </p:clrMapOvr>
  <p:transition spd="fast">
    <p:cover dir="d"/>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937617" y="5055105"/>
            <a:ext cx="6285492" cy="4554433"/>
          </a:xfrm>
          <a:custGeom>
            <a:avLst/>
            <a:gdLst/>
            <a:ahLst/>
            <a:cxnLst/>
            <a:rect r="r" b="b" t="t" l="l"/>
            <a:pathLst>
              <a:path h="4554433" w="6285492">
                <a:moveTo>
                  <a:pt x="0" y="0"/>
                </a:moveTo>
                <a:lnTo>
                  <a:pt x="6285492" y="0"/>
                </a:lnTo>
                <a:lnTo>
                  <a:pt x="6285492" y="4554433"/>
                </a:lnTo>
                <a:lnTo>
                  <a:pt x="0" y="4554433"/>
                </a:lnTo>
                <a:lnTo>
                  <a:pt x="0" y="0"/>
                </a:lnTo>
                <a:close/>
              </a:path>
            </a:pathLst>
          </a:custGeom>
          <a:blipFill>
            <a:blip r:embed="rId4"/>
            <a:stretch>
              <a:fillRect l="0" t="-6622" r="0" b="-52464"/>
            </a:stretch>
          </a:blipFill>
        </p:spPr>
      </p:sp>
      <p:sp>
        <p:nvSpPr>
          <p:cNvPr name="Freeform 13" id="13"/>
          <p:cNvSpPr/>
          <p:nvPr/>
        </p:nvSpPr>
        <p:spPr>
          <a:xfrm flipH="false" flipV="false" rot="0">
            <a:off x="8111251" y="5143500"/>
            <a:ext cx="7135934" cy="4598997"/>
          </a:xfrm>
          <a:custGeom>
            <a:avLst/>
            <a:gdLst/>
            <a:ahLst/>
            <a:cxnLst/>
            <a:rect r="r" b="b" t="t" l="l"/>
            <a:pathLst>
              <a:path h="4598997" w="7135934">
                <a:moveTo>
                  <a:pt x="0" y="0"/>
                </a:moveTo>
                <a:lnTo>
                  <a:pt x="7135933" y="0"/>
                </a:lnTo>
                <a:lnTo>
                  <a:pt x="7135933" y="4598997"/>
                </a:lnTo>
                <a:lnTo>
                  <a:pt x="0" y="4598997"/>
                </a:lnTo>
                <a:lnTo>
                  <a:pt x="0" y="0"/>
                </a:lnTo>
                <a:close/>
              </a:path>
            </a:pathLst>
          </a:custGeom>
          <a:blipFill>
            <a:blip r:embed="rId5"/>
            <a:stretch>
              <a:fillRect l="0" t="0" r="0" b="-15984"/>
            </a:stretch>
          </a:blipFill>
        </p:spPr>
      </p:sp>
      <p:sp>
        <p:nvSpPr>
          <p:cNvPr name="Freeform 14" id="14"/>
          <p:cNvSpPr/>
          <p:nvPr/>
        </p:nvSpPr>
        <p:spPr>
          <a:xfrm flipH="false" flipV="false" rot="0">
            <a:off x="11194598" y="2749173"/>
            <a:ext cx="6860500" cy="3110918"/>
          </a:xfrm>
          <a:custGeom>
            <a:avLst/>
            <a:gdLst/>
            <a:ahLst/>
            <a:cxnLst/>
            <a:rect r="r" b="b" t="t" l="l"/>
            <a:pathLst>
              <a:path h="3110918" w="6860500">
                <a:moveTo>
                  <a:pt x="0" y="0"/>
                </a:moveTo>
                <a:lnTo>
                  <a:pt x="6860501" y="0"/>
                </a:lnTo>
                <a:lnTo>
                  <a:pt x="6860501" y="3110918"/>
                </a:lnTo>
                <a:lnTo>
                  <a:pt x="0" y="3110918"/>
                </a:lnTo>
                <a:lnTo>
                  <a:pt x="0" y="0"/>
                </a:lnTo>
                <a:close/>
              </a:path>
            </a:pathLst>
          </a:custGeom>
          <a:blipFill>
            <a:blip r:embed="rId6"/>
            <a:stretch>
              <a:fillRect l="0" t="0" r="0" b="0"/>
            </a:stretch>
          </a:blipFill>
        </p:spPr>
      </p:sp>
      <p:sp>
        <p:nvSpPr>
          <p:cNvPr name="TextBox 15" id="15"/>
          <p:cNvSpPr txBox="true"/>
          <p:nvPr/>
        </p:nvSpPr>
        <p:spPr>
          <a:xfrm rot="0">
            <a:off x="1398418" y="2316679"/>
            <a:ext cx="10280800" cy="3255446"/>
          </a:xfrm>
          <a:prstGeom prst="rect">
            <a:avLst/>
          </a:prstGeom>
        </p:spPr>
        <p:txBody>
          <a:bodyPr anchor="t" rtlCol="false" tIns="0" lIns="0" bIns="0" rIns="0">
            <a:spAutoFit/>
          </a:bodyPr>
          <a:lstStyle/>
          <a:p>
            <a:pPr algn="l">
              <a:lnSpc>
                <a:spcPts val="3265"/>
              </a:lnSpc>
            </a:pPr>
            <a:r>
              <a:rPr lang="en-US" sz="2332">
                <a:solidFill>
                  <a:srgbClr val="000000"/>
                </a:solidFill>
                <a:latin typeface="Century Gothic Paneuropean"/>
                <a:ea typeface="Century Gothic Paneuropean"/>
                <a:cs typeface="Century Gothic Paneuropean"/>
                <a:sym typeface="Century Gothic Paneuropean"/>
              </a:rPr>
              <a:t>Fully Connected (FC) layers, also known as dense layers, are a crucial component of neural networks, especially in the realms of deep learning. These layers are termed "fully connected" because each neuron in one layer is connected to every neuron in the preceding layer, creating a highly interconnected network.Key Components of Fully Connected Layers are Neurons, Weights, Biases and activation function.</a:t>
            </a:r>
          </a:p>
          <a:p>
            <a:pPr algn="l">
              <a:lnSpc>
                <a:spcPts val="3265"/>
              </a:lnSpc>
            </a:pPr>
          </a:p>
        </p:txBody>
      </p:sp>
      <p:sp>
        <p:nvSpPr>
          <p:cNvPr name="TextBox 16" id="16"/>
          <p:cNvSpPr txBox="true"/>
          <p:nvPr/>
        </p:nvSpPr>
        <p:spPr>
          <a:xfrm rot="0">
            <a:off x="1398418" y="1236765"/>
            <a:ext cx="15149885"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Century Gothic Paneuropean Bold"/>
                <a:ea typeface="Century Gothic Paneuropean Bold"/>
                <a:cs typeface="Century Gothic Paneuropean Bold"/>
                <a:sym typeface="Century Gothic Paneuropean Bold"/>
              </a:rPr>
              <a:t>FULLY CONNECTED LAYERS</a:t>
            </a:r>
          </a:p>
        </p:txBody>
      </p:sp>
    </p:spTree>
  </p:cSld>
  <p:clrMapOvr>
    <a:masterClrMapping/>
  </p:clrMapOvr>
  <p:transition spd="fast">
    <p:cover dir="d"/>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398418" y="1909865"/>
            <a:ext cx="14703767" cy="1064259"/>
          </a:xfrm>
          <a:prstGeom prst="rect">
            <a:avLst/>
          </a:prstGeom>
        </p:spPr>
        <p:txBody>
          <a:bodyPr anchor="t" rtlCol="false" tIns="0" lIns="0" bIns="0" rIns="0">
            <a:spAutoFit/>
          </a:bodyPr>
          <a:lstStyle/>
          <a:p>
            <a:pPr algn="l">
              <a:lnSpc>
                <a:spcPts val="4340"/>
              </a:lnSpc>
            </a:pPr>
            <a:r>
              <a:rPr lang="en-US" sz="3100" b="true">
                <a:solidFill>
                  <a:srgbClr val="000000"/>
                </a:solidFill>
                <a:latin typeface="Canva Sans Bold"/>
                <a:ea typeface="Canva Sans Bold"/>
                <a:cs typeface="Canva Sans Bold"/>
                <a:sym typeface="Canva Sans Bold"/>
              </a:rPr>
              <a:t>If you</a:t>
            </a:r>
            <a:r>
              <a:rPr lang="en-US" sz="3100" b="true">
                <a:solidFill>
                  <a:srgbClr val="000000"/>
                </a:solidFill>
                <a:latin typeface="Canva Sans Bold"/>
                <a:ea typeface="Canva Sans Bold"/>
                <a:cs typeface="Canva Sans Bold"/>
                <a:sym typeface="Canva Sans Bold"/>
              </a:rPr>
              <a:t> have 10 filters that are 3 x 3 x 3 in one layer of a neural network, how many parameters does that layer have?</a:t>
            </a:r>
          </a:p>
        </p:txBody>
      </p:sp>
      <p:sp>
        <p:nvSpPr>
          <p:cNvPr name="TextBox 13" id="13"/>
          <p:cNvSpPr txBox="true"/>
          <p:nvPr/>
        </p:nvSpPr>
        <p:spPr>
          <a:xfrm rot="0">
            <a:off x="1569057" y="3574198"/>
            <a:ext cx="12970193" cy="4780915"/>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Filter</a:t>
            </a:r>
            <a:r>
              <a:rPr lang="en-US" sz="3399">
                <a:solidFill>
                  <a:srgbClr val="000000"/>
                </a:solidFill>
                <a:latin typeface="Canva Sans"/>
                <a:ea typeface="Canva Sans"/>
                <a:cs typeface="Canva Sans"/>
                <a:sym typeface="Canva Sans"/>
              </a:rPr>
              <a:t> size: 3 x 3 x 3</a:t>
            </a:r>
          </a:p>
          <a:p>
            <a:pPr algn="l">
              <a:lnSpc>
                <a:spcPts val="4759"/>
              </a:lnSpc>
            </a:pPr>
            <a:r>
              <a:rPr lang="en-US" sz="3399">
                <a:solidFill>
                  <a:srgbClr val="000000"/>
                </a:solidFill>
                <a:latin typeface="Canva Sans"/>
                <a:ea typeface="Canva Sans"/>
                <a:cs typeface="Canva Sans"/>
                <a:sym typeface="Canva Sans"/>
              </a:rPr>
              <a:t>Number of values per filter: 3 * 3 * 3 = 27</a:t>
            </a:r>
          </a:p>
          <a:p>
            <a:pPr algn="l">
              <a:lnSpc>
                <a:spcPts val="4759"/>
              </a:lnSpc>
            </a:pPr>
            <a:r>
              <a:rPr lang="en-US" sz="3399">
                <a:solidFill>
                  <a:srgbClr val="000000"/>
                </a:solidFill>
                <a:latin typeface="Canva Sans"/>
                <a:ea typeface="Canva Sans"/>
                <a:cs typeface="Canva Sans"/>
                <a:sym typeface="Canva Sans"/>
              </a:rPr>
              <a:t>Number of filters: 10</a:t>
            </a:r>
          </a:p>
          <a:p>
            <a:pPr algn="l">
              <a:lnSpc>
                <a:spcPts val="4759"/>
              </a:lnSpc>
            </a:pPr>
            <a:r>
              <a:rPr lang="en-US" sz="3399">
                <a:solidFill>
                  <a:srgbClr val="000000"/>
                </a:solidFill>
                <a:latin typeface="Canva Sans"/>
                <a:ea typeface="Canva Sans"/>
                <a:cs typeface="Canva Sans"/>
                <a:sym typeface="Canva Sans"/>
              </a:rPr>
              <a:t>Total parameters for the filters: 27 * 10 = 270</a:t>
            </a:r>
          </a:p>
          <a:p>
            <a:pPr algn="l">
              <a:lnSpc>
                <a:spcPts val="4759"/>
              </a:lnSpc>
            </a:pPr>
            <a:r>
              <a:rPr lang="en-US" sz="3399">
                <a:solidFill>
                  <a:srgbClr val="000000"/>
                </a:solidFill>
                <a:latin typeface="Canva Sans"/>
                <a:ea typeface="Canva Sans"/>
                <a:cs typeface="Canva Sans"/>
                <a:sym typeface="Canva Sans"/>
              </a:rPr>
              <a:t>Bias term: Each filter has one bias term, so there are 10 biases.</a:t>
            </a:r>
          </a:p>
          <a:p>
            <a:pPr algn="l">
              <a:lnSpc>
                <a:spcPts val="4759"/>
              </a:lnSpc>
            </a:pPr>
            <a:r>
              <a:rPr lang="en-US" sz="3399">
                <a:solidFill>
                  <a:srgbClr val="000000"/>
                </a:solidFill>
                <a:latin typeface="Canva Sans"/>
                <a:ea typeface="Canva Sans"/>
                <a:cs typeface="Canva Sans"/>
                <a:sym typeface="Canva Sans"/>
              </a:rPr>
              <a:t>Total parameters: 270 (weights) + 10 (biases) = 280</a:t>
            </a:r>
          </a:p>
          <a:p>
            <a:pPr algn="l">
              <a:lnSpc>
                <a:spcPts val="4759"/>
              </a:lnSpc>
            </a:pPr>
            <a:r>
              <a:rPr lang="en-US" sz="3399">
                <a:solidFill>
                  <a:srgbClr val="000000"/>
                </a:solidFill>
                <a:latin typeface="Canva Sans"/>
                <a:ea typeface="Canva Sans"/>
                <a:cs typeface="Canva Sans"/>
                <a:sym typeface="Canva Sans"/>
              </a:rPr>
              <a:t>Therefore, the layer has 280 parameters.</a:t>
            </a:r>
          </a:p>
          <a:p>
            <a:pPr algn="l">
              <a:lnSpc>
                <a:spcPts val="4759"/>
              </a:lnSpc>
            </a:pPr>
          </a:p>
        </p:txBody>
      </p:sp>
    </p:spTree>
  </p:cSld>
  <p:clrMapOvr>
    <a:masterClrMapping/>
  </p:clrMapOvr>
  <p:transition spd="fast">
    <p:cover dir="d"/>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4862323" y="2669819"/>
            <a:ext cx="8563354" cy="6347586"/>
          </a:xfrm>
          <a:custGeom>
            <a:avLst/>
            <a:gdLst/>
            <a:ahLst/>
            <a:cxnLst/>
            <a:rect r="r" b="b" t="t" l="l"/>
            <a:pathLst>
              <a:path h="6347586" w="8563354">
                <a:moveTo>
                  <a:pt x="0" y="0"/>
                </a:moveTo>
                <a:lnTo>
                  <a:pt x="8563354" y="0"/>
                </a:lnTo>
                <a:lnTo>
                  <a:pt x="8563354" y="6347586"/>
                </a:lnTo>
                <a:lnTo>
                  <a:pt x="0" y="6347586"/>
                </a:lnTo>
                <a:lnTo>
                  <a:pt x="0" y="0"/>
                </a:lnTo>
                <a:close/>
              </a:path>
            </a:pathLst>
          </a:custGeom>
          <a:blipFill>
            <a:blip r:embed="rId4"/>
            <a:stretch>
              <a:fillRect l="0" t="0" r="0" b="0"/>
            </a:stretch>
          </a:blipFill>
        </p:spPr>
      </p:sp>
      <p:sp>
        <p:nvSpPr>
          <p:cNvPr name="TextBox 13" id="13"/>
          <p:cNvSpPr txBox="true"/>
          <p:nvPr/>
        </p:nvSpPr>
        <p:spPr>
          <a:xfrm rot="0">
            <a:off x="1032124" y="895350"/>
            <a:ext cx="15149885" cy="2432050"/>
          </a:xfrm>
          <a:prstGeom prst="rect">
            <a:avLst/>
          </a:prstGeom>
        </p:spPr>
        <p:txBody>
          <a:bodyPr anchor="t" rtlCol="false" tIns="0" lIns="0" bIns="0" rIns="0">
            <a:spAutoFit/>
          </a:bodyPr>
          <a:lstStyle/>
          <a:p>
            <a:pPr algn="l">
              <a:lnSpc>
                <a:spcPts val="9799"/>
              </a:lnSpc>
            </a:pPr>
            <a:r>
              <a:rPr lang="en-US" sz="6999" b="true">
                <a:solidFill>
                  <a:srgbClr val="000000"/>
                </a:solidFill>
                <a:latin typeface="Century Gothic Paneuropean Bold"/>
                <a:ea typeface="Century Gothic Paneuropean Bold"/>
                <a:cs typeface="Century Gothic Paneuropean Bold"/>
                <a:sym typeface="Century Gothic Paneuropean Bold"/>
              </a:rPr>
              <a:t>APPLICATIONS OF CNNS</a:t>
            </a:r>
          </a:p>
          <a:p>
            <a:pPr algn="l">
              <a:lnSpc>
                <a:spcPts val="9799"/>
              </a:lnSpc>
            </a:pPr>
          </a:p>
        </p:txBody>
      </p:sp>
    </p:spTree>
  </p:cSld>
  <p:clrMapOvr>
    <a:masterClrMapping/>
  </p:clrMapOvr>
  <p:transition spd="fast">
    <p:cover dir="d"/>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8343" y="-989670"/>
            <a:ext cx="1080715" cy="2956684"/>
            <a:chOff x="0" y="0"/>
            <a:chExt cx="284633" cy="778715"/>
          </a:xfrm>
        </p:grpSpPr>
        <p:sp>
          <p:nvSpPr>
            <p:cNvPr name="Freeform 10" id="10"/>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1" id="11"/>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032124" y="895350"/>
            <a:ext cx="15149885" cy="1193800"/>
          </a:xfrm>
          <a:prstGeom prst="rect">
            <a:avLst/>
          </a:prstGeom>
        </p:spPr>
        <p:txBody>
          <a:bodyPr anchor="t" rtlCol="false" tIns="0" lIns="0" bIns="0" rIns="0">
            <a:spAutoFit/>
          </a:bodyPr>
          <a:lstStyle/>
          <a:p>
            <a:pPr algn="l">
              <a:lnSpc>
                <a:spcPts val="9799"/>
              </a:lnSpc>
            </a:pPr>
            <a:r>
              <a:rPr lang="en-US" sz="6999" b="true">
                <a:solidFill>
                  <a:srgbClr val="000000"/>
                </a:solidFill>
                <a:latin typeface="Century Gothic Paneuropean Bold"/>
                <a:ea typeface="Century Gothic Paneuropean Bold"/>
                <a:cs typeface="Century Gothic Paneuropean Bold"/>
                <a:sym typeface="Century Gothic Paneuropean Bold"/>
              </a:rPr>
              <a:t>REFERENCE</a:t>
            </a:r>
          </a:p>
        </p:txBody>
      </p:sp>
      <p:sp>
        <p:nvSpPr>
          <p:cNvPr name="TextBox 13" id="13"/>
          <p:cNvSpPr txBox="true"/>
          <p:nvPr/>
        </p:nvSpPr>
        <p:spPr>
          <a:xfrm rot="0">
            <a:off x="2684505" y="3364736"/>
            <a:ext cx="14034437" cy="3938269"/>
          </a:xfrm>
          <a:prstGeom prst="rect">
            <a:avLst/>
          </a:prstGeom>
        </p:spPr>
        <p:txBody>
          <a:bodyPr anchor="t" rtlCol="false" tIns="0" lIns="0" bIns="0" rIns="0">
            <a:spAutoFit/>
          </a:bodyPr>
          <a:lstStyle/>
          <a:p>
            <a:pPr algn="l" marL="690887" indent="-345444" lvl="1">
              <a:lnSpc>
                <a:spcPts val="4480"/>
              </a:lnSpc>
              <a:buFont typeface="Arial"/>
              <a:buChar char="•"/>
            </a:pPr>
            <a:r>
              <a:rPr lang="en-US" sz="3200" u="sng">
                <a:solidFill>
                  <a:srgbClr val="000000"/>
                </a:solidFill>
                <a:latin typeface="Arimo"/>
                <a:ea typeface="Arimo"/>
                <a:cs typeface="Arimo"/>
                <a:sym typeface="Arimo"/>
                <a:hlinkClick r:id="rId4" tooltip="https://youtube.com/playlist?list=PLkDaE6sCZn6Gl29AoE31iwdVwSG-KnDzF&amp;si=_w1J-7-VuhAKrCpM"/>
              </a:rPr>
              <a:t>https://youtube.com/playlist?list=PLkDaE6sCZn6Gl29AoE31iwdVwSG-KnDzF&amp;si=_w1J-7-VuhAKrCpM</a:t>
            </a:r>
          </a:p>
          <a:p>
            <a:pPr algn="l" marL="690887" indent="-345444" lvl="1">
              <a:lnSpc>
                <a:spcPts val="4480"/>
              </a:lnSpc>
              <a:buFont typeface="Arial"/>
              <a:buChar char="•"/>
            </a:pPr>
            <a:r>
              <a:rPr lang="en-US" sz="3200" u="sng">
                <a:solidFill>
                  <a:srgbClr val="000000"/>
                </a:solidFill>
                <a:latin typeface="Arimo"/>
                <a:ea typeface="Arimo"/>
                <a:cs typeface="Arimo"/>
                <a:sym typeface="Arimo"/>
              </a:rPr>
              <a:t>https://medium.com/@Tms43/understanding-padding-strides-in-convolutional-neural-networks-cnn-for-effective-image-feature-1b0756a52918</a:t>
            </a:r>
          </a:p>
          <a:p>
            <a:pPr algn="l" marL="690887" indent="-345444" lvl="1">
              <a:lnSpc>
                <a:spcPts val="4480"/>
              </a:lnSpc>
              <a:buFont typeface="Arial"/>
              <a:buChar char="•"/>
            </a:pPr>
            <a:r>
              <a:rPr lang="en-US" sz="3200" u="sng">
                <a:solidFill>
                  <a:srgbClr val="000000"/>
                </a:solidFill>
                <a:latin typeface="Arimo"/>
                <a:ea typeface="Arimo"/>
                <a:cs typeface="Arimo"/>
                <a:sym typeface="Arimo"/>
              </a:rPr>
              <a:t>https://www.datacamp.com/tutorial/introduction-to-convolutional-neural-networks-cnns</a:t>
            </a:r>
          </a:p>
        </p:txBody>
      </p:sp>
    </p:spTree>
  </p:cSld>
  <p:clrMapOvr>
    <a:masterClrMapping/>
  </p:clrMapOvr>
  <p:transition spd="fast">
    <p:cover dir="d"/>
  </p:transition>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transition spd="fast">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DAGie4lTrf0</dc:identifier>
  <dcterms:modified xsi:type="dcterms:W3CDTF">2011-08-01T06:04:30Z</dcterms:modified>
  <cp:revision>1</cp:revision>
  <dc:title>CNN</dc:title>
</cp:coreProperties>
</file>