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58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755" y="578169"/>
            <a:ext cx="4022461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5F7A"/>
                </a:solidFill>
              </a:rPr>
              <a:t>AI Ethics and Bias</a:t>
            </a:r>
            <a:endParaRPr lang="en-US" sz="329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47" y="1704956"/>
            <a:ext cx="3571875" cy="23812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5F7A"/>
                </a:solidFill>
              </a:rPr>
              <a:t>AI Ethics: Defining the Moral Compass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00906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What is AI Ethics?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265225"/>
            <a:ext cx="39290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AI Ethics is a field of study that examines how to design, develop, and deploy AI systems in a way that is beneficial, fair, and respects human values.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028127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Why Does It Matter?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2292446"/>
            <a:ext cx="39290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AI is increasingly making decisions that affect our lives—from jobs and loans to healthcare. Ethical guidelines ensure these decisions are just and equitable.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3055348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The Core Question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3319667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Just because we </a:t>
            </a:r>
            <a:r>
              <a:rPr lang="en-US" sz="834" i="1" dirty="0">
                <a:solidFill>
                  <a:srgbClr val="2C3E50"/>
                </a:solidFill>
              </a:rPr>
              <a:t>can</a:t>
            </a:r>
            <a:r>
              <a:rPr lang="en-US" sz="834" dirty="0">
                <a:solidFill>
                  <a:srgbClr val="2C3E50"/>
                </a:solidFill>
              </a:rPr>
              <a:t> build an AI, </a:t>
            </a:r>
            <a:r>
              <a:rPr lang="en-US" sz="834" i="1" dirty="0">
                <a:solidFill>
                  <a:srgbClr val="2C3E50"/>
                </a:solidFill>
              </a:rPr>
              <a:t>should</a:t>
            </a:r>
            <a:r>
              <a:rPr lang="en-US" sz="834" dirty="0">
                <a:solidFill>
                  <a:srgbClr val="2C3E50"/>
                </a:solidFill>
              </a:rPr>
              <a:t> we? This fundamental question guides responsible innovation.</a:t>
            </a:r>
            <a:endParaRPr lang="en-US" sz="834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094" y="914400"/>
            <a:ext cx="2857500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5F7A"/>
                </a:solidFill>
              </a:rPr>
              <a:t>The Core Principles: Transparency, Fairness, and Accountability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3" y="842963"/>
            <a:ext cx="1285875" cy="1285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8625" y="2343150"/>
            <a:ext cx="26193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Transparency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28625" y="2643188"/>
            <a:ext cx="26193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We must understand </a:t>
            </a:r>
            <a:r>
              <a:rPr lang="en-US" sz="683" b="1" i="1" dirty="0">
                <a:solidFill>
                  <a:srgbClr val="2C3E50"/>
                </a:solidFill>
              </a:rPr>
              <a:t>how</a:t>
            </a:r>
            <a:r>
              <a:rPr lang="en-US" sz="683" b="1" dirty="0">
                <a:solidFill>
                  <a:srgbClr val="2C3E50"/>
                </a:solidFill>
              </a:rPr>
              <a:t> an AI reached a decision (avoiding the "black box" problem).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428625" y="3070361"/>
            <a:ext cx="261935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i="1" dirty="0">
                <a:solidFill>
                  <a:srgbClr val="555555"/>
                </a:solidFill>
              </a:rPr>
              <a:t>Example:</a:t>
            </a:r>
            <a:r>
              <a:rPr lang="en-US" sz="674" i="1" dirty="0">
                <a:solidFill>
                  <a:srgbClr val="555555"/>
                </a:solidFill>
              </a:rPr>
              <a:t> A bank must explain why an AI denied a loan application.</a:t>
            </a:r>
            <a:endParaRPr lang="en-US" sz="634" dirty="0"/>
          </a:p>
        </p:txBody>
      </p:sp>
      <p:sp>
        <p:nvSpPr>
          <p:cNvPr id="8" name="Text 4"/>
          <p:cNvSpPr/>
          <p:nvPr/>
        </p:nvSpPr>
        <p:spPr>
          <a:xfrm>
            <a:off x="3262294" y="2343150"/>
            <a:ext cx="26193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Fairness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3262294" y="2643188"/>
            <a:ext cx="26193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AI systems must treat all groups of people equitably and avoid systemic bias.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3262294" y="3070361"/>
            <a:ext cx="261938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i="1" dirty="0">
                <a:solidFill>
                  <a:srgbClr val="555555"/>
                </a:solidFill>
              </a:rPr>
              <a:t>Example:</a:t>
            </a:r>
            <a:r>
              <a:rPr lang="en-US" sz="674" i="1" dirty="0">
                <a:solidFill>
                  <a:srgbClr val="555555"/>
                </a:solidFill>
              </a:rPr>
              <a:t> An AI should not favor one gender or race over another in hiring.</a:t>
            </a:r>
            <a:endParaRPr lang="en-US" sz="634" dirty="0"/>
          </a:p>
        </p:txBody>
      </p:sp>
      <p:sp>
        <p:nvSpPr>
          <p:cNvPr id="11" name="Text 7"/>
          <p:cNvSpPr/>
          <p:nvPr/>
        </p:nvSpPr>
        <p:spPr>
          <a:xfrm>
            <a:off x="6095991" y="2343150"/>
            <a:ext cx="26193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Accountability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6095991" y="2643188"/>
            <a:ext cx="26193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Humans must be responsible for the actions and outcomes of AI systems.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6095991" y="3070361"/>
            <a:ext cx="261935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i="1" dirty="0">
                <a:solidFill>
                  <a:srgbClr val="555555"/>
                </a:solidFill>
              </a:rPr>
              <a:t>Example:</a:t>
            </a:r>
            <a:r>
              <a:rPr lang="en-US" sz="674" i="1" dirty="0">
                <a:solidFill>
                  <a:srgbClr val="555555"/>
                </a:solidFill>
              </a:rPr>
              <a:t> If an autonomous vehicle causes an accident, who is legally responsible?</a:t>
            </a:r>
            <a:endParaRPr lang="en-US" sz="634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5F7A"/>
                </a:solidFill>
              </a:rPr>
              <a:t>AI Bias: When Algorithms Learn Prejudice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06" y="914400"/>
            <a:ext cx="2857500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86313" y="1183770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What is AI Bias?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786313" y="1448088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AI Bias is a systematic error in an AI system's output that creates unfair outcomes, such as favoring one group over others.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4786313" y="2028127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The Source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786313" y="2292446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AI systems learn from data. If the training data reflects existing societal biases (historical, social, or economic), the AI will amplify them.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4786313" y="2872485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The Danger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4786313" y="3136804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Bias makes AI unreliable, discriminatory, and can deepen existing social inequalities across healthcare, justice, employment, and more.</a:t>
            </a:r>
            <a:endParaRPr lang="en-US" sz="834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5F7A"/>
                </a:solidFill>
              </a:rPr>
              <a:t>Where Does Bias Come From? Data and Algorithmic Bias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950119"/>
            <a:ext cx="3964781" cy="26431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50594" y="914400"/>
            <a:ext cx="39647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Type 1: Data Bias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750594" y="1193006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5F7A"/>
                </a:solidFill>
              </a:rPr>
              <a:t>The Input Problem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4750594" y="1464469"/>
            <a:ext cx="39647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The training data is incomplete, unrepresentative, or reflects historical prejudice.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4750594" y="1767353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i="1" dirty="0">
                <a:solidFill>
                  <a:srgbClr val="555555"/>
                </a:solidFill>
              </a:rPr>
              <a:t>Example:</a:t>
            </a:r>
            <a:r>
              <a:rPr lang="en-US" sz="674" i="1" dirty="0">
                <a:solidFill>
                  <a:srgbClr val="555555"/>
                </a:solidFill>
              </a:rPr>
              <a:t> Facial recognition trained mostly on light-skinned male faces performs poorly on women and people of color.</a:t>
            </a:r>
            <a:endParaRPr lang="en-US" sz="634" dirty="0"/>
          </a:p>
        </p:txBody>
      </p:sp>
      <p:sp>
        <p:nvSpPr>
          <p:cNvPr id="9" name="Text 5"/>
          <p:cNvSpPr/>
          <p:nvPr/>
        </p:nvSpPr>
        <p:spPr>
          <a:xfrm>
            <a:off x="4750594" y="2260271"/>
            <a:ext cx="39647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A537"/>
                </a:solidFill>
              </a:rPr>
              <a:t>Type 2: Algorithmic Bias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4750594" y="2538878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5F7A"/>
                </a:solidFill>
              </a:rPr>
              <a:t>The Design Problem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4750594" y="2810340"/>
            <a:ext cx="39647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The way the algorithm is designed or the metrics used to evaluate it are flawed.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4750594" y="3113224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i="1" dirty="0">
                <a:solidFill>
                  <a:srgbClr val="555555"/>
                </a:solidFill>
              </a:rPr>
              <a:t>Example:</a:t>
            </a:r>
            <a:r>
              <a:rPr lang="en-US" sz="674" i="1" dirty="0">
                <a:solidFill>
                  <a:srgbClr val="555555"/>
                </a:solidFill>
              </a:rPr>
              <a:t> An algorithm optimized for "speed" might inadvertently disadvantage users with slower internet access.</a:t>
            </a:r>
            <a:endParaRPr lang="en-US" sz="634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5F7A"/>
                </a:solidFill>
              </a:rPr>
              <a:t>Real-World Impact: The Amazon Hiring Tool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01337"/>
            <a:ext cx="3929063" cy="26193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86313" y="914400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A537"/>
                </a:solidFill>
              </a:rPr>
              <a:t>The Scenario</a:t>
            </a:r>
            <a:endParaRPr lang="en-US" sz="784" dirty="0"/>
          </a:p>
        </p:txBody>
      </p:sp>
      <p:sp>
        <p:nvSpPr>
          <p:cNvPr id="6" name="Text 2"/>
          <p:cNvSpPr/>
          <p:nvPr/>
        </p:nvSpPr>
        <p:spPr>
          <a:xfrm>
            <a:off x="4786313" y="1143000"/>
            <a:ext cx="392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Amazon developed an AI tool to review job applications and recommend the best candidates for technical roles.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4786313" y="1664494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A537"/>
                </a:solidFill>
              </a:rPr>
              <a:t>The Problem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4786313" y="1893094"/>
            <a:ext cx="392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The AI was trained on 10 years of historical hiring data, which was predominantly male in technical positions.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4786313" y="2414588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A537"/>
                </a:solidFill>
              </a:rPr>
              <a:t>The Outcome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4786313" y="2643188"/>
            <a:ext cx="392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The AI learned to penalize resumes containing the word "women's" (e.g., "women's chess club captain") and systematically favored male candidates.</a:t>
            </a:r>
            <a:endParaRPr lang="en-US" sz="780" dirty="0"/>
          </a:p>
        </p:txBody>
      </p:sp>
      <p:sp>
        <p:nvSpPr>
          <p:cNvPr id="11" name="Text 7"/>
          <p:cNvSpPr/>
          <p:nvPr/>
        </p:nvSpPr>
        <p:spPr>
          <a:xfrm>
            <a:off x="4786313" y="3164681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A537"/>
                </a:solidFill>
              </a:rPr>
              <a:t>The Lesson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4786313" y="3393281"/>
            <a:ext cx="3929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The AI simply mirrored and amplified the historical gender bias present in the training data—a cautionary tale about the importance of diverse, representative datasets.</a:t>
            </a:r>
            <a:endParaRPr lang="en-US" sz="7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5F7A"/>
                </a:solidFill>
              </a:rPr>
              <a:t>Real-World Impact: COMPAS and Predictive Policing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842963"/>
            <a:ext cx="3636811" cy="24245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51186" y="842963"/>
            <a:ext cx="43641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A537"/>
                </a:solidFill>
              </a:rPr>
              <a:t>The Scenario</a:t>
            </a:r>
            <a:endParaRPr lang="en-US" sz="784" dirty="0"/>
          </a:p>
        </p:txBody>
      </p:sp>
      <p:sp>
        <p:nvSpPr>
          <p:cNvPr id="6" name="Text 2"/>
          <p:cNvSpPr/>
          <p:nvPr/>
        </p:nvSpPr>
        <p:spPr>
          <a:xfrm>
            <a:off x="4351186" y="1071563"/>
            <a:ext cx="436418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COMPAS (Correctional Offender Management Profiling for Alternative Sanctions) is a tool used in US courts to predict a defendant's likelihood of re-offending (recidivism risk).</a:t>
            </a:r>
            <a:endParaRPr lang="en-US" sz="727" dirty="0"/>
          </a:p>
        </p:txBody>
      </p:sp>
      <p:sp>
        <p:nvSpPr>
          <p:cNvPr id="7" name="Text 3"/>
          <p:cNvSpPr/>
          <p:nvPr/>
        </p:nvSpPr>
        <p:spPr>
          <a:xfrm>
            <a:off x="4351186" y="1534455"/>
            <a:ext cx="43641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A537"/>
                </a:solidFill>
              </a:rPr>
              <a:t>The Problem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4351186" y="1763055"/>
            <a:ext cx="436418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Studies found the algorithm was </a:t>
            </a:r>
            <a:r>
              <a:rPr lang="en-US" sz="683" b="1" dirty="0">
                <a:solidFill>
                  <a:srgbClr val="1A5F7A"/>
                </a:solidFill>
              </a:rPr>
              <a:t>racially biased</a:t>
            </a:r>
            <a:r>
              <a:rPr lang="en-US" sz="727" dirty="0">
                <a:solidFill>
                  <a:srgbClr val="2C3E50"/>
                </a:solidFill>
              </a:rPr>
              <a:t>. It incorrectly flagged Black defendants as future criminals at nearly </a:t>
            </a:r>
            <a:r>
              <a:rPr lang="en-US" sz="683" b="1" dirty="0">
                <a:solidFill>
                  <a:srgbClr val="1A5F7A"/>
                </a:solidFill>
              </a:rPr>
              <a:t>twice the rate</a:t>
            </a:r>
            <a:r>
              <a:rPr lang="en-US" sz="727" dirty="0">
                <a:solidFill>
                  <a:srgbClr val="2C3E50"/>
                </a:solidFill>
              </a:rPr>
              <a:t> of white defendants.</a:t>
            </a:r>
            <a:endParaRPr lang="en-US" sz="727" dirty="0"/>
          </a:p>
        </p:txBody>
      </p:sp>
      <p:sp>
        <p:nvSpPr>
          <p:cNvPr id="9" name="Text 5"/>
          <p:cNvSpPr/>
          <p:nvPr/>
        </p:nvSpPr>
        <p:spPr>
          <a:xfrm>
            <a:off x="4351186" y="2225948"/>
            <a:ext cx="43641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A537"/>
                </a:solidFill>
              </a:rPr>
              <a:t>The Outcome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4351186" y="2454548"/>
            <a:ext cx="436418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This bias can lead to harsher sentences or denial of parole for Black defendants, perpetuating systemic racism within the criminal justice system.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4351186" y="2917441"/>
            <a:ext cx="43641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A537"/>
                </a:solidFill>
              </a:rPr>
              <a:t>The Lesson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4351186" y="3146041"/>
            <a:ext cx="436418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Even "objective" algorithms can encode and perpetuate systemic racism. Bias in AI is not accidental—it reflects the biased data and society that created it.</a:t>
            </a:r>
            <a:endParaRPr lang="en-US" sz="7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5F7A"/>
                </a:solidFill>
              </a:rPr>
              <a:t>How Can We Fix It? Strategies for Mitigation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914400"/>
            <a:ext cx="3964781" cy="26431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50594" y="914400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E8A537"/>
                </a:solidFill>
              </a:rPr>
              <a:t>Strategy 1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4750594" y="1121569"/>
            <a:ext cx="39647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5F7A"/>
                </a:solidFill>
              </a:rPr>
              <a:t>Data Auditing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4750594" y="1371600"/>
            <a:ext cx="39647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Carefully examine and clean training data to ensure it is diverse, representative, and free of historical prejudice.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4750594" y="1870211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E8A537"/>
                </a:solidFill>
              </a:rPr>
              <a:t>Strategy 2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4750594" y="2077380"/>
            <a:ext cx="39647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5F7A"/>
                </a:solidFill>
              </a:rPr>
              <a:t>Fairness Metrics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4750594" y="2327411"/>
            <a:ext cx="39647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Use specific mathematical metrics to measure and correct for bias during the algorithm's training phase.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4750594" y="2826023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E8A537"/>
                </a:solidFill>
              </a:rPr>
              <a:t>Strategy 3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4750594" y="3033192"/>
            <a:ext cx="39647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5F7A"/>
                </a:solidFill>
              </a:rPr>
              <a:t>Human Oversight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4750594" y="3283223"/>
            <a:ext cx="39647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Keep humans in the loop. AI should assist, not replace, critical human judgment, especially in high-stakes decisions.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4750594" y="3781834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E8A537"/>
                </a:solidFill>
              </a:rPr>
              <a:t>Strategy 4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4750594" y="3989003"/>
            <a:ext cx="39647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5F7A"/>
                </a:solidFill>
              </a:rPr>
              <a:t>Transparency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4750594" y="4239034"/>
            <a:ext cx="39647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Document the AI's design, data sources, and performance to allow for external review and challenge.</a:t>
            </a:r>
            <a:endParaRPr lang="en-US" sz="7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5F7A"/>
                </a:solidFill>
              </a:rPr>
              <a:t>Key Takeaways and Call to Action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14400"/>
            <a:ext cx="43252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E8A537"/>
                </a:solidFill>
              </a:rPr>
              <a:t>Takeaway 1</a:t>
            </a:r>
            <a:endParaRPr lang="en-US" sz="634" dirty="0"/>
          </a:p>
        </p:txBody>
      </p:sp>
      <p:sp>
        <p:nvSpPr>
          <p:cNvPr id="5" name="Text 2"/>
          <p:cNvSpPr/>
          <p:nvPr/>
        </p:nvSpPr>
        <p:spPr>
          <a:xfrm>
            <a:off x="428625" y="1125141"/>
            <a:ext cx="4325206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AI is a powerful tool, but its power must be guided by strong ethical principles. Technology alone cannot solve the problem of bias—we need intentional, thoughtful design.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28625" y="1871663"/>
            <a:ext cx="43252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E8A537"/>
                </a:solidFill>
              </a:rPr>
              <a:t>Takeaway 2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428625" y="2082403"/>
            <a:ext cx="432520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Bias is not a bug; it's a reflection of the data we feed AI systems and the society we live in. Understanding this connection is the first step toward creating fairer systems.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2646759"/>
            <a:ext cx="43252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E8A537"/>
                </a:solidFill>
              </a:rPr>
              <a:t>Takeaway 3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428625" y="2857500"/>
            <a:ext cx="4325206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The responsibility for ethical AI rests with everyone: developers, companies, policymakers, and users. Your voice and choices matter in shaping the future of technology.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28625" y="3904059"/>
            <a:ext cx="43252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5F7A"/>
                </a:solidFill>
              </a:rPr>
              <a:t>Your Role: Build a Better Future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28625" y="4146947"/>
            <a:ext cx="43252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2C3E50"/>
                </a:solidFill>
              </a:rPr>
              <a:t>Let's build a future where AI serves all of humanity fairly and justly. Whether you become a developer, educator, policymaker, or informed citizen, you have the power to advocate for ethical AI.</a:t>
            </a:r>
            <a:endParaRPr lang="en-US" sz="727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012" y="1520530"/>
            <a:ext cx="2500313" cy="25003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874</Words>
  <Application>Microsoft Office PowerPoint</Application>
  <PresentationFormat>On-screen Show (16:9)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2025-11-19T20:26:47Z</dcterms:created>
  <dcterms:modified xsi:type="dcterms:W3CDTF">2025-11-21T06:53:13Z</dcterms:modified>
</cp:coreProperties>
</file>